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74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20040"/>
            <a:ext cx="2331720" cy="2331720"/>
          </a:xfrm>
          <a:prstGeom prst="ellipse">
            <a:avLst/>
          </a:prstGeom>
          <a:solidFill>
            <a:srgbClr val="27D3D3">
              <a:alpha val="75000"/>
            </a:srgbClr>
          </a:solidFill>
          <a:ln w="12700">
            <a:solidFill>
              <a:srgbClr val="27D3D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320040" y="4983480"/>
            <a:ext cx="1463040" cy="1463040"/>
          </a:xfrm>
          <a:prstGeom prst="ellipse">
            <a:avLst/>
          </a:prstGeom>
          <a:solidFill>
            <a:srgbClr val="9B7CFF">
              <a:alpha val="65000"/>
            </a:srgbClr>
          </a:solidFill>
          <a:ln w="12700">
            <a:solidFill>
              <a:srgbClr val="9B7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188720" cy="292608"/>
          </a:xfrm>
          <a:prstGeom prst="rect">
            <a:avLst/>
          </a:prstGeom>
          <a:solidFill>
            <a:srgbClr val="27D3D3"/>
          </a:solidFill>
          <a:ln>
            <a:solidFill>
              <a:srgbClr val="27D3D3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</a:rPr>
              <a:t>Taller 24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Ingeniería Inversa de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GoRoutines, Mutex y HTTP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13232" y="29718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9F0"/>
                </a:solidFill>
              </a:rPr>
              <a:t>Flujo de petición HTTP hacia el LLM · mapa conceptual · cuestionario · ejemplo en 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7273" y="351427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FBFF"/>
                </a:solidFill>
              </a:rPr>
              <a:t>Diego Loza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42245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8C4"/>
                </a:solidFill>
              </a:rPr>
              <a:t>Presentación de defensa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46920" y="27432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🧑‍💻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0744200" y="365760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rgbClr val="000000"/>
                </a:solidFill>
              </a:rPr>
              <a:t>🌐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595360" y="41605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A7A2A8F-E1DB-5120-66B9-E5CEB32BB011}"/>
              </a:ext>
            </a:extLst>
          </p:cNvPr>
          <p:cNvSpPr/>
          <p:nvPr/>
        </p:nvSpPr>
        <p:spPr>
          <a:xfrm>
            <a:off x="865632" y="3992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FBFF"/>
                </a:solidFill>
              </a:rPr>
              <a:t>Proyecto: digcompedu-api-v1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7D3D3"/>
          </a:solidFill>
          <a:ln w="12700">
            <a:solidFill>
              <a:srgbClr val="27D3D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 la actividad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7782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Entender el proyecto mediante ingeniería inversa y explicar cómo viaja la solicitud hasta el LLM.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291840" cy="1554480"/>
          </a:xfrm>
          <a:prstGeom prst="rect">
            <a:avLst/>
          </a:prstGeom>
          <a:solidFill>
            <a:srgbClr val="FFFFFF"/>
          </a:solidFill>
          <a:ln w="17780">
            <a:solidFill>
              <a:srgbClr val="27D3D3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🔎  1. Analizar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Revisar archivos, paquetes importados y funciones clave del proyecto para entender el flujo principal.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34840" y="1417320"/>
            <a:ext cx="3291840" cy="1554480"/>
          </a:xfrm>
          <a:prstGeom prst="rect">
            <a:avLst/>
          </a:prstGeom>
          <a:solidFill>
            <a:srgbClr val="FFFFFF"/>
          </a:solidFill>
          <a:ln w="17780">
            <a:solidFill>
              <a:srgbClr val="9B7C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🗺️  2. Mapear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Representar la arquitectura: navegador, servidor Go, handlers, JSON, base de datos, concurrencia y LLM.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183880" y="1417320"/>
            <a:ext cx="3291840" cy="1554480"/>
          </a:xfrm>
          <a:prstGeom prst="rect">
            <a:avLst/>
          </a:prstGeom>
          <a:solidFill>
            <a:srgbClr val="FFFFFF"/>
          </a:solidFill>
          <a:ln w="17780">
            <a:solidFill>
              <a:srgbClr val="46C07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🎤  3. Defender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Presentar el mapa conceptual, el cuestionario lleno y un ejemplo de ampliación del proyecto en Go.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</a:rPr>
              <a:t>Idea central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</a:rPr>
              <a:t>El sistema recibe una petición HTTP, procesa datos en Go, protege recursos compartidos con concurrencia controlada y devuelve una respuesta generada por el LLM.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5212080"/>
            <a:ext cx="960120" cy="292608"/>
          </a:xfrm>
          <a:prstGeom prst="rect">
            <a:avLst/>
          </a:prstGeom>
          <a:solidFill>
            <a:srgbClr val="133B5C"/>
          </a:solidFill>
          <a:ln>
            <a:solidFill>
              <a:srgbClr val="133B5C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HTTP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11680" y="5212080"/>
            <a:ext cx="960120" cy="292608"/>
          </a:xfrm>
          <a:prstGeom prst="rect">
            <a:avLst/>
          </a:prstGeom>
          <a:solidFill>
            <a:srgbClr val="133B5C"/>
          </a:solidFill>
          <a:ln>
            <a:solidFill>
              <a:srgbClr val="133B5C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JSON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08960" y="5212080"/>
            <a:ext cx="1234440" cy="292608"/>
          </a:xfrm>
          <a:prstGeom prst="rect">
            <a:avLst/>
          </a:prstGeom>
          <a:solidFill>
            <a:srgbClr val="133B5C"/>
          </a:solidFill>
          <a:ln>
            <a:solidFill>
              <a:srgbClr val="133B5C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Goroutine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26280" y="5212080"/>
            <a:ext cx="960120" cy="292608"/>
          </a:xfrm>
          <a:prstGeom prst="rect">
            <a:avLst/>
          </a:prstGeom>
          <a:solidFill>
            <a:srgbClr val="133B5C"/>
          </a:solidFill>
          <a:ln>
            <a:solidFill>
              <a:srgbClr val="133B5C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Mutex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23560" y="5212080"/>
            <a:ext cx="822960" cy="292608"/>
          </a:xfrm>
          <a:prstGeom prst="rect">
            <a:avLst/>
          </a:prstGeom>
          <a:solidFill>
            <a:srgbClr val="133B5C"/>
          </a:solidFill>
          <a:ln>
            <a:solidFill>
              <a:srgbClr val="133B5C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LLM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0" y="5212080"/>
            <a:ext cx="731520" cy="292608"/>
          </a:xfrm>
          <a:prstGeom prst="rect">
            <a:avLst/>
          </a:prstGeom>
          <a:solidFill>
            <a:srgbClr val="133B5C"/>
          </a:solidFill>
          <a:ln>
            <a:solidFill>
              <a:srgbClr val="133B5C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Taller 24 · Ingeniería Inversa · GoRoutines / Mutex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B7280"/>
                </a:solidFill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7D3D3"/>
          </a:solidFill>
          <a:ln w="12700">
            <a:solidFill>
              <a:srgbClr val="27D3D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conceptual del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7782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Componentes identificados y relación entre ellos.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61488" y="2029968"/>
            <a:ext cx="105156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727448" y="2029968"/>
            <a:ext cx="105156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6693408" y="2029968"/>
            <a:ext cx="105156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8659368" y="2029968"/>
            <a:ext cx="105156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6199632" y="2606040"/>
            <a:ext cx="0" cy="91440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6199632" y="4297680"/>
            <a:ext cx="0" cy="50292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7818120" y="3794760"/>
            <a:ext cx="114300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4526280" y="3794760"/>
            <a:ext cx="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960120" y="1600200"/>
            <a:ext cx="1783080" cy="868680"/>
          </a:xfrm>
          <a:prstGeom prst="rect">
            <a:avLst/>
          </a:prstGeom>
          <a:solidFill>
            <a:srgbClr val="FFFFFF"/>
          </a:solidFill>
          <a:ln w="20320">
            <a:solidFill>
              <a:srgbClr val="27D3D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👤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Usuario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click en Enviar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3794760" y="1600200"/>
            <a:ext cx="1783080" cy="868680"/>
          </a:xfrm>
          <a:prstGeom prst="rect">
            <a:avLst/>
          </a:prstGeom>
          <a:solidFill>
            <a:srgbClr val="FFFFFF"/>
          </a:solidFill>
          <a:ln w="20320">
            <a:solidFill>
              <a:srgbClr val="9B7C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🌐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Navegador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petición HTTP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760720" y="1600200"/>
            <a:ext cx="1783080" cy="868680"/>
          </a:xfrm>
          <a:prstGeom prst="rect">
            <a:avLst/>
          </a:prstGeom>
          <a:solidFill>
            <a:srgbClr val="FFFFFF"/>
          </a:solidFill>
          <a:ln w="20320">
            <a:solidFill>
              <a:srgbClr val="46C07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⚙️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Servidor Go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net/http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726680" y="1600200"/>
            <a:ext cx="1783080" cy="868680"/>
          </a:xfrm>
          <a:prstGeom prst="rect">
            <a:avLst/>
          </a:prstGeom>
          <a:solidFill>
            <a:srgbClr val="FFFFFF"/>
          </a:solidFill>
          <a:ln w="20320">
            <a:solidFill>
              <a:srgbClr val="F5B94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🧩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Handler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valida y enruta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9692640" y="1600200"/>
            <a:ext cx="1783080" cy="868680"/>
          </a:xfrm>
          <a:prstGeom prst="rect">
            <a:avLst/>
          </a:prstGeom>
          <a:solidFill>
            <a:srgbClr val="FFFFFF"/>
          </a:solidFill>
          <a:ln w="20320">
            <a:solidFill>
              <a:srgbClr val="FF6B6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🧠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LLM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genera respuesta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4846320" y="3429000"/>
            <a:ext cx="1691640" cy="868680"/>
          </a:xfrm>
          <a:prstGeom prst="rect">
            <a:avLst/>
          </a:prstGeom>
          <a:solidFill>
            <a:srgbClr val="FFFFFF"/>
          </a:solidFill>
          <a:ln w="20320">
            <a:solidFill>
              <a:srgbClr val="133B5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{ }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JSON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encoding/json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720840" y="3429000"/>
            <a:ext cx="1874520" cy="868680"/>
          </a:xfrm>
          <a:prstGeom prst="rect">
            <a:avLst/>
          </a:prstGeom>
          <a:solidFill>
            <a:srgbClr val="FFFFFF"/>
          </a:solidFill>
          <a:ln w="20320">
            <a:solidFill>
              <a:srgbClr val="133B5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🔒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Concurrencia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goroutine + mutex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2331720" y="3429000"/>
            <a:ext cx="1874520" cy="868680"/>
          </a:xfrm>
          <a:prstGeom prst="rect">
            <a:avLst/>
          </a:prstGeom>
          <a:solidFill>
            <a:srgbClr val="FFFFFF"/>
          </a:solidFill>
          <a:ln w="20320">
            <a:solidFill>
              <a:srgbClr val="6B728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🗄️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Base de datos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database/sql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5074920" y="4892040"/>
            <a:ext cx="2240280" cy="868680"/>
          </a:xfrm>
          <a:prstGeom prst="rect">
            <a:avLst/>
          </a:prstGeom>
          <a:solidFill>
            <a:srgbClr val="FFFFFF"/>
          </a:solidFill>
          <a:ln w="20320">
            <a:solidFill>
              <a:srgbClr val="27D3D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↩️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Respuesta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B1220"/>
                </a:solidFill>
              </a:rPr>
              <a:t>HTTP Response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713232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Lectura rápida: el navegador envía datos → Go los recibe → el handler los procesa → puede usar BD/concurrencia → el LLM responde → Go devuelve el resultado.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Taller 24 · Ingeniería Inversa · GoRoutines / Mutex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B7280"/>
                </a:solidFill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7D3D3"/>
          </a:solidFill>
          <a:ln w="12700">
            <a:solidFill>
              <a:srgbClr val="27D3D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HTTP: de “Enviar” al LLM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7782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Diagrama resumido del recorrido de la petición.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67128" y="2459736"/>
            <a:ext cx="201168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3813048" y="2459736"/>
            <a:ext cx="201168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5458968" y="2459736"/>
            <a:ext cx="201168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7104888" y="2459736"/>
            <a:ext cx="201168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8750808" y="2459736"/>
            <a:ext cx="201168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10396728" y="2459736"/>
            <a:ext cx="201168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685800" y="1645920"/>
            <a:ext cx="347472" cy="347472"/>
          </a:xfrm>
          <a:prstGeom prst="rect">
            <a:avLst/>
          </a:prstGeom>
          <a:solidFill>
            <a:srgbClr val="27D3D3"/>
          </a:solidFill>
          <a:ln>
            <a:solidFill>
              <a:srgbClr val="27D3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05740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7D3D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Click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Enviar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331720" y="1645920"/>
            <a:ext cx="347472" cy="347472"/>
          </a:xfrm>
          <a:prstGeom prst="rect">
            <a:avLst/>
          </a:prstGeom>
          <a:solidFill>
            <a:srgbClr val="9B7CFF"/>
          </a:solidFill>
          <a:ln>
            <a:solidFill>
              <a:srgbClr val="9B7C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0280" y="205740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9B7C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Petición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HTTP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977640" y="1645920"/>
            <a:ext cx="347472" cy="347472"/>
          </a:xfrm>
          <a:prstGeom prst="rect">
            <a:avLst/>
          </a:prstGeom>
          <a:solidFill>
            <a:srgbClr val="46C07B"/>
          </a:solidFill>
          <a:ln>
            <a:solidFill>
              <a:srgbClr val="46C07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86200" y="205740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46C07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net/http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recibe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623560" y="1645920"/>
            <a:ext cx="347472" cy="347472"/>
          </a:xfrm>
          <a:prstGeom prst="rect">
            <a:avLst/>
          </a:prstGeom>
          <a:solidFill>
            <a:srgbClr val="F5B942"/>
          </a:solidFill>
          <a:ln>
            <a:solidFill>
              <a:srgbClr val="F5B94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205740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B94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Handler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procesa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269480" y="1645920"/>
            <a:ext cx="347472" cy="347472"/>
          </a:xfrm>
          <a:prstGeom prst="rect">
            <a:avLst/>
          </a:prstGeom>
          <a:solidFill>
            <a:srgbClr val="133B5C"/>
          </a:solidFill>
          <a:ln>
            <a:solidFill>
              <a:srgbClr val="133B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78040" y="205740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33B5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JSON +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struct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915400" y="1645920"/>
            <a:ext cx="347472" cy="347472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23960" y="205740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Goroutine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+ Mutex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561320" y="1645920"/>
            <a:ext cx="347472" cy="347472"/>
          </a:xfrm>
          <a:prstGeom prst="rect">
            <a:avLst/>
          </a:prstGeom>
          <a:solidFill>
            <a:srgbClr val="27D3D3"/>
          </a:solidFill>
          <a:ln>
            <a:solidFill>
              <a:srgbClr val="27D3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469880" y="205740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7D3D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Prompt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LLM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10863072" y="3063240"/>
            <a:ext cx="0" cy="141732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1417320" y="4526280"/>
            <a:ext cx="2148840" cy="658368"/>
          </a:xfrm>
          <a:prstGeom prst="rect">
            <a:avLst/>
          </a:prstGeom>
          <a:solidFill>
            <a:srgbClr val="DDFBFF"/>
          </a:solidFill>
          <a:ln w="19050">
            <a:solidFill>
              <a:srgbClr val="27D3D3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Respuesta HTTP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220"/>
                </a:solidFill>
              </a:rPr>
              <a:t>se muestra al usuario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16052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220"/>
                </a:solidFill>
              </a:rPr>
              <a:t>Puntos clave para defender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206240" y="4590288"/>
            <a:ext cx="6858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El handler es la función que une navegador y lógica del sistema.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JSON convierte datos entre web y Go.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Mutex evita problemas si varias peticiones llegan al mismo tiempo.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El LLM recibe un prompt y devuelve texto procesado.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Taller 24 · Ingeniería Inversa · GoRoutines / Mutex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B7280"/>
                </a:solidFill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7D3D3"/>
          </a:solidFill>
          <a:ln w="12700">
            <a:solidFill>
              <a:srgbClr val="27D3D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Cuestionario de paquetes y conceptos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7782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Propósito de cada elemento dentro del proyecto.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920240" cy="438912"/>
          </a:xfrm>
          <a:prstGeom prst="rect">
            <a:avLst/>
          </a:prstGeom>
          <a:solidFill>
            <a:srgbClr val="133B5C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</a:rPr>
              <a:t>Librería / concepto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2423160" y="1325880"/>
            <a:ext cx="868680" cy="438912"/>
          </a:xfrm>
          <a:prstGeom prst="rect">
            <a:avLst/>
          </a:prstGeom>
          <a:solidFill>
            <a:srgbClr val="133B5C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</a:rPr>
              <a:t>Visto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3291840" y="1325880"/>
            <a:ext cx="6858000" cy="438912"/>
          </a:xfrm>
          <a:prstGeom prst="rect">
            <a:avLst/>
          </a:prstGeom>
          <a:solidFill>
            <a:srgbClr val="133B5C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</a:rPr>
              <a:t>Propósito aquí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10149840" y="1325880"/>
            <a:ext cx="731520" cy="438912"/>
          </a:xfrm>
          <a:prstGeom prst="rect">
            <a:avLst/>
          </a:prstGeom>
          <a:solidFill>
            <a:srgbClr val="133B5C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Conf.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02920" y="1764792"/>
            <a:ext cx="19202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net/http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2423160" y="1764792"/>
            <a:ext cx="8686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Sí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3291840" y="1764792"/>
            <a:ext cx="6858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Recibe y responde peticiones HTTP del servidor/API.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10149840" y="1764792"/>
            <a:ext cx="7315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937"/>
                </a:solidFill>
              </a:rPr>
              <a:t>5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502920" y="2203704"/>
            <a:ext cx="19202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html/template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2423160" y="2203704"/>
            <a:ext cx="8686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Sí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3291840" y="2203704"/>
            <a:ext cx="6858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Renderiza páginas HTML con datos dinámicos.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10149840" y="2203704"/>
            <a:ext cx="7315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937"/>
                </a:solidFill>
              </a:rPr>
              <a:t>4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502920" y="2642616"/>
            <a:ext cx="19202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database/sql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2423160" y="2642616"/>
            <a:ext cx="8686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Sí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3291840" y="2642616"/>
            <a:ext cx="6858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Conexión y consultas a base de datos.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10149840" y="2642616"/>
            <a:ext cx="7315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937"/>
                </a:solidFill>
              </a:rPr>
              <a:t>5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02920" y="3081528"/>
            <a:ext cx="19202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context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2423160" y="3081528"/>
            <a:ext cx="8686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Prob.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3291840" y="3081528"/>
            <a:ext cx="6858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Controla tiempo, cancelación y datos por petición.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10149840" y="3081528"/>
            <a:ext cx="7315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937"/>
                </a:solidFill>
              </a:rPr>
              <a:t>4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502920" y="3520440"/>
            <a:ext cx="19202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encoding/json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2423160" y="3520440"/>
            <a:ext cx="8686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Sí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3291840" y="3520440"/>
            <a:ext cx="6858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Convierte JSON ↔ estructuras de Go.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10149840" y="3520440"/>
            <a:ext cx="7315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937"/>
                </a:solidFill>
              </a:rPr>
              <a:t>5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502920" y="3959352"/>
            <a:ext cx="19202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struct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2423160" y="3959352"/>
            <a:ext cx="8686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Sí</a:t>
            </a:r>
            <a:endParaRPr lang="en-US" sz="1140" dirty="0"/>
          </a:p>
        </p:txBody>
      </p:sp>
      <p:sp>
        <p:nvSpPr>
          <p:cNvPr id="31" name="Text 29"/>
          <p:cNvSpPr/>
          <p:nvPr/>
        </p:nvSpPr>
        <p:spPr>
          <a:xfrm>
            <a:off x="3291840" y="3959352"/>
            <a:ext cx="6858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Modela request, response y entidades.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10149840" y="3959352"/>
            <a:ext cx="7315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937"/>
                </a:solidFill>
              </a:rPr>
              <a:t>5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502920" y="4398264"/>
            <a:ext cx="19202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goroutines</a:t>
            </a:r>
            <a:endParaRPr lang="en-US" sz="1140" dirty="0"/>
          </a:p>
        </p:txBody>
      </p:sp>
      <p:sp>
        <p:nvSpPr>
          <p:cNvPr id="34" name="Text 32"/>
          <p:cNvSpPr/>
          <p:nvPr/>
        </p:nvSpPr>
        <p:spPr>
          <a:xfrm>
            <a:off x="2423160" y="4398264"/>
            <a:ext cx="8686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Sí</a:t>
            </a:r>
            <a:endParaRPr lang="en-US" sz="1140" dirty="0"/>
          </a:p>
        </p:txBody>
      </p:sp>
      <p:sp>
        <p:nvSpPr>
          <p:cNvPr id="35" name="Text 33"/>
          <p:cNvSpPr/>
          <p:nvPr/>
        </p:nvSpPr>
        <p:spPr>
          <a:xfrm>
            <a:off x="3291840" y="4398264"/>
            <a:ext cx="6858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Ejecuta tareas concurrentes sin bloquear.</a:t>
            </a:r>
            <a:endParaRPr lang="en-US" sz="1140" dirty="0"/>
          </a:p>
        </p:txBody>
      </p:sp>
      <p:sp>
        <p:nvSpPr>
          <p:cNvPr id="36" name="Text 34"/>
          <p:cNvSpPr/>
          <p:nvPr/>
        </p:nvSpPr>
        <p:spPr>
          <a:xfrm>
            <a:off x="10149840" y="4398264"/>
            <a:ext cx="7315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937"/>
                </a:solidFill>
              </a:rPr>
              <a:t>5</a:t>
            </a:r>
            <a:endParaRPr lang="en-US" sz="1140" dirty="0"/>
          </a:p>
        </p:txBody>
      </p:sp>
      <p:sp>
        <p:nvSpPr>
          <p:cNvPr id="37" name="Text 35"/>
          <p:cNvSpPr/>
          <p:nvPr/>
        </p:nvSpPr>
        <p:spPr>
          <a:xfrm>
            <a:off x="502920" y="4837176"/>
            <a:ext cx="19202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interfaces</a:t>
            </a:r>
            <a:endParaRPr lang="en-US" sz="1140" dirty="0"/>
          </a:p>
        </p:txBody>
      </p:sp>
      <p:sp>
        <p:nvSpPr>
          <p:cNvPr id="38" name="Text 36"/>
          <p:cNvSpPr/>
          <p:nvPr/>
        </p:nvSpPr>
        <p:spPr>
          <a:xfrm>
            <a:off x="2423160" y="4837176"/>
            <a:ext cx="8686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Sí</a:t>
            </a:r>
            <a:endParaRPr lang="en-US" sz="1140" dirty="0"/>
          </a:p>
        </p:txBody>
      </p:sp>
      <p:sp>
        <p:nvSpPr>
          <p:cNvPr id="39" name="Text 37"/>
          <p:cNvSpPr/>
          <p:nvPr/>
        </p:nvSpPr>
        <p:spPr>
          <a:xfrm>
            <a:off x="3291840" y="4837176"/>
            <a:ext cx="6858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Define comportamientos y desacopla módulos.</a:t>
            </a:r>
            <a:endParaRPr lang="en-US" sz="1140" dirty="0"/>
          </a:p>
        </p:txBody>
      </p:sp>
      <p:sp>
        <p:nvSpPr>
          <p:cNvPr id="40" name="Text 38"/>
          <p:cNvSpPr/>
          <p:nvPr/>
        </p:nvSpPr>
        <p:spPr>
          <a:xfrm>
            <a:off x="10149840" y="4837176"/>
            <a:ext cx="7315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937"/>
                </a:solidFill>
              </a:rPr>
              <a:t>4</a:t>
            </a:r>
            <a:endParaRPr lang="en-US" sz="1140" dirty="0"/>
          </a:p>
        </p:txBody>
      </p:sp>
      <p:sp>
        <p:nvSpPr>
          <p:cNvPr id="41" name="Text 39"/>
          <p:cNvSpPr/>
          <p:nvPr/>
        </p:nvSpPr>
        <p:spPr>
          <a:xfrm>
            <a:off x="502920" y="5276088"/>
            <a:ext cx="19202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sync / Mutex</a:t>
            </a:r>
            <a:endParaRPr lang="en-US" sz="1140" dirty="0"/>
          </a:p>
        </p:txBody>
      </p:sp>
      <p:sp>
        <p:nvSpPr>
          <p:cNvPr id="42" name="Text 40"/>
          <p:cNvSpPr/>
          <p:nvPr/>
        </p:nvSpPr>
        <p:spPr>
          <a:xfrm>
            <a:off x="2423160" y="5276088"/>
            <a:ext cx="8686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Sí</a:t>
            </a:r>
            <a:endParaRPr lang="en-US" sz="1140" dirty="0"/>
          </a:p>
        </p:txBody>
      </p:sp>
      <p:sp>
        <p:nvSpPr>
          <p:cNvPr id="43" name="Text 41"/>
          <p:cNvSpPr/>
          <p:nvPr/>
        </p:nvSpPr>
        <p:spPr>
          <a:xfrm>
            <a:off x="3291840" y="5276088"/>
            <a:ext cx="6858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F2937"/>
                </a:solidFill>
              </a:rPr>
              <a:t>Protege recursos compartidos en concurrencia.</a:t>
            </a:r>
            <a:endParaRPr lang="en-US" sz="1140" dirty="0"/>
          </a:p>
        </p:txBody>
      </p:sp>
      <p:sp>
        <p:nvSpPr>
          <p:cNvPr id="44" name="Text 42"/>
          <p:cNvSpPr/>
          <p:nvPr/>
        </p:nvSpPr>
        <p:spPr>
          <a:xfrm>
            <a:off x="10149840" y="5276088"/>
            <a:ext cx="7315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937"/>
                </a:solidFill>
              </a:rPr>
              <a:t>5</a:t>
            </a:r>
            <a:endParaRPr lang="en-US" sz="1140" dirty="0"/>
          </a:p>
        </p:txBody>
      </p:sp>
      <p:sp>
        <p:nvSpPr>
          <p:cNvPr id="45" name="Text 43"/>
          <p:cNvSpPr/>
          <p:nvPr/>
        </p:nvSpPr>
        <p:spPr>
          <a:xfrm>
            <a:off x="530352" y="58795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i="1" dirty="0">
                <a:solidFill>
                  <a:srgbClr val="6B7280"/>
                </a:solidFill>
              </a:rPr>
              <a:t>Nota: “collections” no aparece como paquete estándar de Go; si existe en el proyecto, se debe verificar en el código si es carpeta o paquete propio.</a:t>
            </a:r>
            <a:endParaRPr lang="en-US" sz="1280" dirty="0"/>
          </a:p>
        </p:txBody>
      </p:sp>
      <p:sp>
        <p:nvSpPr>
          <p:cNvPr id="46" name="Text 44"/>
          <p:cNvSpPr/>
          <p:nvPr/>
        </p:nvSpPr>
        <p:spPr>
          <a:xfrm>
            <a:off x="50292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Taller 24 · Ingeniería Inversa · GoRoutines / Mutex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B7280"/>
                </a:solidFill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7D3D3"/>
          </a:solidFill>
          <a:ln w="12700">
            <a:solidFill>
              <a:srgbClr val="27D3D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conceptos que pueden ser confusos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7782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Identificados para explicar en el informe y durante la defensa.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3246120" cy="2286000"/>
          </a:xfrm>
          <a:prstGeom prst="rect">
            <a:avLst/>
          </a:prstGeom>
          <a:solidFill>
            <a:srgbClr val="FFFFFF"/>
          </a:solidFill>
          <a:ln w="17780">
            <a:solidFill>
              <a:srgbClr val="9B7C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⏱️  context.Context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Al inicio parece “invisible”, pero sirve para controlar una petición: cancelar, poner timeout o transportar información entre funciones.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80560" y="1417320"/>
            <a:ext cx="3246120" cy="2286000"/>
          </a:xfrm>
          <a:prstGeom prst="rect">
            <a:avLst/>
          </a:prstGeom>
          <a:solidFill>
            <a:srgbClr val="FFFFFF"/>
          </a:solidFill>
          <a:ln w="17780">
            <a:solidFill>
              <a:srgbClr val="FF6B6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🔒  sync.Mutex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Puede confundir porque no procesa datos directamente; su objetivo es bloquear/desbloquear acceso para evitar errores cuando hay varias goroutines.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0" y="1417320"/>
            <a:ext cx="3246120" cy="2286000"/>
          </a:xfrm>
          <a:prstGeom prst="rect">
            <a:avLst/>
          </a:prstGeom>
          <a:solidFill>
            <a:srgbClr val="FFFFFF"/>
          </a:solidFill>
          <a:ln w="17780">
            <a:solidFill>
              <a:srgbClr val="46C07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🧾  interfaces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No son objetos concretos. Funcionan como contratos: cualquier tipo que cumpla los métodos puede usarse sin depender de una implementación específica.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43708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220"/>
                </a:solidFill>
              </a:rPr>
              <a:t>Frase para decir en clase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102870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“Estos elementos ayudan a que el proyecto sea más ordenado, seguro y escalable: context controla la vida de la petición, Mutex protege datos compartidos e interfaces reducen el acoplamiento.”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Taller 24 · Ingeniería Inversa · GoRoutines / Mutex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B7280"/>
                </a:solidFill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7D3D3"/>
          </a:solidFill>
          <a:ln w="12700">
            <a:solidFill>
              <a:srgbClr val="27D3D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de ampliación en Go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7782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Nueva función: agregar criterio de evaluación al docente y calcular promedio.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220"/>
                </a:solidFill>
              </a:rPr>
              <a:t>Función propuesta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1664208"/>
            <a:ext cx="5074920" cy="29718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DDFB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type Evaluacion struct {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DDFB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DominioTema int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DDFB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Claridad    int  // nuevo criterio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DDFB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Puntualidad  int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DDFB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420" dirty="0"/>
          </a:p>
          <a:p>
            <a:pPr marL="0" indent="0">
              <a:buNone/>
            </a:pP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DDFB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func CalcularPromedio(e Evaluacion) float64 {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DDFB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total := e.DominioTema + e.Claridad + e.Puntualidad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DDFB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float64(total) / 3.0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DDFB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6172200" y="1508760"/>
            <a:ext cx="5074920" cy="1051560"/>
          </a:xfrm>
          <a:prstGeom prst="rect">
            <a:avLst/>
          </a:prstGeom>
          <a:solidFill>
            <a:srgbClr val="FFFFFF"/>
          </a:solidFill>
          <a:ln w="17780">
            <a:solidFill>
              <a:srgbClr val="27D3D3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➕  ¿Qué amplía?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Añade un nuevo elemento de evaluación: claridad del docente.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72200" y="2880360"/>
            <a:ext cx="507492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46C07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🔗  ¿Cómo se conecta?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El handler podría recibir los valores por JSON, guardarlos en un struct y devolver el promedio como respuesta.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72200" y="4480560"/>
            <a:ext cx="5074920" cy="1051560"/>
          </a:xfrm>
          <a:prstGeom prst="rect">
            <a:avLst/>
          </a:prstGeom>
          <a:solidFill>
            <a:srgbClr val="FFFFFF"/>
          </a:solidFill>
          <a:ln w="17780">
            <a:solidFill>
              <a:srgbClr val="F5B942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✅  ¿Por qué sirve?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Demuestra uso de struct, funciones, JSON y lógica de negocio dentro del proyecto.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Taller 24 · Ingeniería Inversa · GoRoutines / Mutex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B7280"/>
                </a:solidFill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50876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DDFBFF"/>
                </a:solidFill>
              </a:rPr>
              <a:t>El proyecto funciona como una API web en Go que recibe datos, los transforma, controla la concurrencia y devuelve una respuesta del LLM.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Para defenderlo: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429000"/>
            <a:ext cx="73152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8E9F0"/>
                </a:solidFill>
              </a:rPr>
              <a:t>1. Explicar el camino de la petición.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D8E9F0"/>
                </a:solidFill>
              </a:rPr>
              <a:t>2. Relacionar cada paquete con su función.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D8E9F0"/>
                </a:solidFill>
              </a:rPr>
              <a:t>3. Mostrar el ejemplo en Go como ampliación del sistema.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486400"/>
            <a:ext cx="914400" cy="292608"/>
          </a:xfrm>
          <a:prstGeom prst="rect">
            <a:avLst/>
          </a:prstGeom>
          <a:solidFill>
            <a:srgbClr val="27D3D3"/>
          </a:solidFill>
          <a:ln>
            <a:solidFill>
              <a:srgbClr val="27D3D3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220"/>
                </a:solidFill>
              </a:rPr>
              <a:t>Fin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783080" y="5413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Preguntas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503920" y="4526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0" dirty="0">
                <a:solidFill>
                  <a:srgbClr val="000000"/>
                </a:solidFill>
              </a:rPr>
              <a:t>🧠  ⚙️  🌐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904</Words>
  <Application>Microsoft Office PowerPoint</Application>
  <PresentationFormat>Panorámica</PresentationFormat>
  <Paragraphs>187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 Display</vt:lpstr>
      <vt:lpstr>Arial</vt:lpstr>
      <vt:lpstr>Cascadia Mono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24 - Ingeniería Inversa</dc:title>
  <dc:subject>Presentación Taller 24 - Ingeniería Inversa de GoRoutines Mutex</dc:subject>
  <dc:creator>OpenAI</dc:creator>
  <cp:lastModifiedBy>Usuario Internacional</cp:lastModifiedBy>
  <cp:revision>2</cp:revision>
  <dcterms:created xsi:type="dcterms:W3CDTF">2026-08-17T15:43:24Z</dcterms:created>
  <dcterms:modified xsi:type="dcterms:W3CDTF">2026-08-17T15:51:17Z</dcterms:modified>
</cp:coreProperties>
</file>